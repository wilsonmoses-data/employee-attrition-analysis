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9a177420cb45ae" /><Relationship Type="http://schemas.openxmlformats.org/officeDocument/2006/relationships/extended-properties" Target="/docProps/app.xml" Id="R9ac1a4e4e0f84dc5" /><Relationship Type="http://schemas.openxmlformats.org/officeDocument/2006/relationships/officeDocument" Target="/ppt/presentation.xml" Id="R1e7f3e6a6d2142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109ed65454b9c"/>
  </p:sldMasterIdLst>
  <p:notesMasterIdLst>
    <p:notesMasterId xmlns:r="http://schemas.openxmlformats.org/officeDocument/2006/relationships" r:id="R471baa003c224ef5"/>
  </p:notesMasterIdLst>
  <p:sldIdLst>
    <p:sldId xmlns:r="http://schemas.openxmlformats.org/officeDocument/2006/relationships" id="256" r:id="Re9d3b7b309bb4858"/>
    <p:sldId xmlns:r="http://schemas.openxmlformats.org/officeDocument/2006/relationships" id="257" r:id="Rc1ad6c150d904784"/>
    <p:sldId xmlns:r="http://schemas.openxmlformats.org/officeDocument/2006/relationships" id="258" r:id="Raa454bd8770a414c"/>
    <p:sldId xmlns:r="http://schemas.openxmlformats.org/officeDocument/2006/relationships" id="259" r:id="Rd5c6793ad7c54346"/>
    <p:sldId xmlns:r="http://schemas.openxmlformats.org/officeDocument/2006/relationships" id="260" r:id="R7c6fc8979a864183"/>
    <p:sldId xmlns:r="http://schemas.openxmlformats.org/officeDocument/2006/relationships" id="261" r:id="R0daee2bdc61e4209"/>
    <p:sldId xmlns:r="http://schemas.openxmlformats.org/officeDocument/2006/relationships" id="262" r:id="R5d2f156e7a134a98"/>
    <p:sldId xmlns:r="http://schemas.openxmlformats.org/officeDocument/2006/relationships" id="263" r:id="R8392112f25b040dc"/>
    <p:sldId xmlns:r="http://schemas.openxmlformats.org/officeDocument/2006/relationships" id="264" r:id="Ra70fa4af3f92432a"/>
    <p:sldId xmlns:r="http://schemas.openxmlformats.org/officeDocument/2006/relationships" id="265" r:id="R52c733830200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f4873ba6394d95" /><Relationship Type="http://schemas.openxmlformats.org/officeDocument/2006/relationships/slideMaster" Target="/ppt/slideMasters/slideMaster1.xml" Id="R3d4109ed65454b9c" /><Relationship Type="http://schemas.openxmlformats.org/officeDocument/2006/relationships/notesMaster" Target="/ppt/notesMasters/notesMaster1.xml" Id="R471baa003c224ef5" /><Relationship Type="http://schemas.openxmlformats.org/officeDocument/2006/relationships/presProps" Target="/ppt/presProps.xml" Id="R7da6c6fd50754b7c" /><Relationship Type="http://schemas.openxmlformats.org/officeDocument/2006/relationships/tableStyles" Target="/ppt/tableStyles.xml" Id="R09d56e7569134932" /><Relationship Type="http://schemas.openxmlformats.org/officeDocument/2006/relationships/slide" Target="/ppt/slides/slide1.xml" Id="Re9d3b7b309bb4858" /><Relationship Type="http://schemas.openxmlformats.org/officeDocument/2006/relationships/slide" Target="/ppt/slides/slide2.xml" Id="Rc1ad6c150d904784" /><Relationship Type="http://schemas.openxmlformats.org/officeDocument/2006/relationships/slide" Target="/ppt/slides/slide3.xml" Id="Raa454bd8770a414c" /><Relationship Type="http://schemas.openxmlformats.org/officeDocument/2006/relationships/slide" Target="/ppt/slides/slide4.xml" Id="Rd5c6793ad7c54346" /><Relationship Type="http://schemas.openxmlformats.org/officeDocument/2006/relationships/slide" Target="/ppt/slides/slide5.xml" Id="R7c6fc8979a864183" /><Relationship Type="http://schemas.openxmlformats.org/officeDocument/2006/relationships/slide" Target="/ppt/slides/slide6.xml" Id="R0daee2bdc61e4209" /><Relationship Type="http://schemas.openxmlformats.org/officeDocument/2006/relationships/slide" Target="/ppt/slides/slide7.xml" Id="R5d2f156e7a134a98" /><Relationship Type="http://schemas.openxmlformats.org/officeDocument/2006/relationships/slide" Target="/ppt/slides/slide8.xml" Id="R8392112f25b040dc" /><Relationship Type="http://schemas.openxmlformats.org/officeDocument/2006/relationships/slide" Target="/ppt/slides/slide9.xml" Id="Ra70fa4af3f92432a" /><Relationship Type="http://schemas.openxmlformats.org/officeDocument/2006/relationships/slide" Target="/ppt/slides/slide10.xml" Id="R52c733830200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299e6dde74b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c50f2cfee437c" /><Relationship Type="http://schemas.openxmlformats.org/officeDocument/2006/relationships/notesMaster" Target="/ppt/notesMasters/notesMaster1.xml" Id="R6013c11bc480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7c7bfdbde14bd7" /><Relationship Type="http://schemas.openxmlformats.org/officeDocument/2006/relationships/notesMaster" Target="/ppt/notesMasters/notesMaster1.xml" Id="Rfc4c423368b845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59862126c4c54" /><Relationship Type="http://schemas.openxmlformats.org/officeDocument/2006/relationships/notesMaster" Target="/ppt/notesMasters/notesMaster1.xml" Id="R4ce0067fe8da4a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a9259e73414561" /><Relationship Type="http://schemas.openxmlformats.org/officeDocument/2006/relationships/notesMaster" Target="/ppt/notesMasters/notesMaster1.xml" Id="Ra05c5fdd062e4d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6b16a4a8245b4" /><Relationship Type="http://schemas.openxmlformats.org/officeDocument/2006/relationships/notesMaster" Target="/ppt/notesMasters/notesMaster1.xml" Id="Rfe3f18f1df1844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08d6146034c07" /><Relationship Type="http://schemas.openxmlformats.org/officeDocument/2006/relationships/notesMaster" Target="/ppt/notesMasters/notesMaster1.xml" Id="R74d06b8b343840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a5eb0655a843ce" /><Relationship Type="http://schemas.openxmlformats.org/officeDocument/2006/relationships/notesMaster" Target="/ppt/notesMasters/notesMaster1.xml" Id="R4013c1ffe33548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343f2cb9c4208" /><Relationship Type="http://schemas.openxmlformats.org/officeDocument/2006/relationships/notesMaster" Target="/ppt/notesMasters/notesMaster1.xml" Id="Rabf21866d02746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e2bc9f729a4b30" /><Relationship Type="http://schemas.openxmlformats.org/officeDocument/2006/relationships/notesMaster" Target="/ppt/notesMasters/notesMaster1.xml" Id="R961e3f60764e4b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8d48cacf084dcc" /><Relationship Type="http://schemas.openxmlformats.org/officeDocument/2006/relationships/notesMaster" Target="/ppt/notesMasters/notesMaster1.xml" Id="R8263b30af46f49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- images/overall-attrition.png (repository-generated chart)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- images/overtime-attrition-rate.png (repository-generated chart)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- images/job-role-attrition-rate.png (repository-generated chart)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data/raw/abc_employee_attrition.csv (metrics computed in the repository notebooks)</a:t>
            </a:r>
          </a:p>
          <a:p xmlns:a="http://schemas.openxmlformats.org/drawingml/2006/main">
            <a:r>
              <a:t>- README.md (project framing and responsible-use boundaries)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c47e3163d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c2565384b43ae" /><Relationship Type="http://schemas.openxmlformats.org/officeDocument/2006/relationships/slideLayout" Target="/ppt/slideLayouts/slideLayout1.xml" Id="R63c7f29f72764a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7f29f72764a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57382f7d44c50" /><Relationship Type="http://schemas.openxmlformats.org/officeDocument/2006/relationships/image" Target="/ppt/media/image.png" Id="R96b5a704e1414308" /><Relationship Type="http://schemas.openxmlformats.org/officeDocument/2006/relationships/notesSlide" Target="/ppt/notesSlides/notesSlide1.xml" Id="Rbcd5cf0c6b7d4b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d24f5b0684df3" /><Relationship Type="http://schemas.openxmlformats.org/officeDocument/2006/relationships/image" Target="/ppt/media/image2.png" Id="Rc1524776107a4c67" /><Relationship Type="http://schemas.openxmlformats.org/officeDocument/2006/relationships/notesSlide" Target="/ppt/notesSlides/notesSlide2.xml" Id="Rfd0e1f8d1d5843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573905cc54c59" /><Relationship Type="http://schemas.openxmlformats.org/officeDocument/2006/relationships/image" Target="/ppt/media/image3.png" Id="R2269e98b24004a7e" /><Relationship Type="http://schemas.openxmlformats.org/officeDocument/2006/relationships/chart" Target="/ppt/slides/charts/chart1.xml" Id="Rf826065e9dbe4933" /><Relationship Type="http://schemas.openxmlformats.org/officeDocument/2006/relationships/chart" Target="/ppt/slides/charts/chart2.xml" Id="R48c21487025e4e42" /><Relationship Type="http://schemas.openxmlformats.org/officeDocument/2006/relationships/notesSlide" Target="/ppt/notesSlides/notesSlide3.xml" Id="R4cc7ab6a800a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d49018f59434e" /><Relationship Type="http://schemas.openxmlformats.org/officeDocument/2006/relationships/image" Target="/ppt/media/image4.png" Id="R4dfdc81f3966474a" /><Relationship Type="http://schemas.openxmlformats.org/officeDocument/2006/relationships/image" Target="/ppt/media/image5.png" Id="Rebed022079094bc6" /><Relationship Type="http://schemas.openxmlformats.org/officeDocument/2006/relationships/notesSlide" Target="/ppt/notesSlides/notesSlide4.xml" Id="R8983df9fbe4540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d3b65be8b4766" /><Relationship Type="http://schemas.openxmlformats.org/officeDocument/2006/relationships/image" Target="/ppt/media/image6.png" Id="R97d74b9c622b42a6" /><Relationship Type="http://schemas.openxmlformats.org/officeDocument/2006/relationships/image" Target="/ppt/media/image7.png" Id="Rdf18a8b158d54044" /><Relationship Type="http://schemas.openxmlformats.org/officeDocument/2006/relationships/notesSlide" Target="/ppt/notesSlides/notesSlide5.xml" Id="Rf5ac4d47f8f947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c121678e14cf4" /><Relationship Type="http://schemas.openxmlformats.org/officeDocument/2006/relationships/image" Target="/ppt/media/image8.png" Id="Rad6697816380443b" /><Relationship Type="http://schemas.openxmlformats.org/officeDocument/2006/relationships/chart" Target="/ppt/slides/charts/chart3.xml" Id="R2bfa4f16e51f45a8" /><Relationship Type="http://schemas.openxmlformats.org/officeDocument/2006/relationships/notesSlide" Target="/ppt/notesSlides/notesSlide6.xml" Id="R4f03c8bab93846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c7e87ee1c4e24" /><Relationship Type="http://schemas.openxmlformats.org/officeDocument/2006/relationships/image" Target="/ppt/media/image9.png" Id="R45336d46df764cae" /><Relationship Type="http://schemas.openxmlformats.org/officeDocument/2006/relationships/image" Target="/ppt/media/image10.png" Id="Rc1d99d4ab892451e" /><Relationship Type="http://schemas.openxmlformats.org/officeDocument/2006/relationships/notesSlide" Target="/ppt/notesSlides/notesSlide7.xml" Id="R7eee2659736d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e45942dc419e" /><Relationship Type="http://schemas.openxmlformats.org/officeDocument/2006/relationships/image" Target="/ppt/media/image11.png" Id="R5396a05666794549" /><Relationship Type="http://schemas.openxmlformats.org/officeDocument/2006/relationships/notesSlide" Target="/ppt/notesSlides/notesSlide8.xml" Id="Rf0cbd972d2694a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ddb1730c44fe6" /><Relationship Type="http://schemas.openxmlformats.org/officeDocument/2006/relationships/image" Target="/ppt/media/image12.png" Id="Rc75df25e47c84273" /><Relationship Type="http://schemas.openxmlformats.org/officeDocument/2006/relationships/notesSlide" Target="/ppt/notesSlides/notesSlide9.xml" Id="R2b689a2b818f46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a24ebb81c4d61" /><Relationship Type="http://schemas.openxmlformats.org/officeDocument/2006/relationships/image" Target="/ppt/media/image13.png" Id="R01e1ea5086294329" /><Relationship Type="http://schemas.openxmlformats.org/officeDocument/2006/relationships/notesSlide" Target="/ppt/notesSlides/notesSlide10.xml" Id="R0636e092bcb5402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Employees</c:v>
          </c:tx>
          <c:spPr>
            <a:solidFill xmlns:a="http://schemas.openxmlformats.org/drawingml/2006/main">
              <a:srgbClr val="C69A4B"/>
            </a:solidFill>
          </c:spPr>
          <c:cat>
            <c:strLit>
              <c:ptCount val="3"/>
              <c:pt idx="0">
                <c:v>R&amp;D</c:v>
              </c:pt>
              <c:pt idx="1">
                <c:v>Sales</c:v>
              </c:pt>
              <c:pt idx="2">
                <c:v>Human Resources</c:v>
              </c:pt>
            </c:strLit>
          </c:cat>
          <c:val>
            <c:numLit>
              <c:formatCode>General</c:formatCode>
              <c:ptCount val="3"/>
              <c:pt idx="0">
                <c:v>961</c:v>
              </c:pt>
              <c:pt idx="1">
                <c:v>446</c:v>
              </c:pt>
              <c:pt idx="2">
                <c:v>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A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D0D0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D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D68"/>
                </a:solidFill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BFAF7"/>
        </a:solidFill>
      </c:spPr>
    </c:plotArea>
    <c:plotVisOnly val="1"/>
  </c:chart>
  <c:spPr>
    <a:solidFill xmlns:a="http://schemas.openxmlformats.org/drawingml/2006/main">
      <a:srgbClr val="FBFAF7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Employees</c:v>
          </c:tx>
          <c:spPr>
            <a:solidFill xmlns:a="http://schemas.openxmlformats.org/drawingml/2006/main">
              <a:srgbClr val="0D0D0D"/>
            </a:solidFill>
          </c:spPr>
          <c:cat>
            <c:strLit>
              <c:ptCount val="4"/>
              <c:pt idx="0">
                <c:v>Sales Executive</c:v>
              </c:pt>
              <c:pt idx="1">
                <c:v>Research Scientist</c:v>
              </c:pt>
              <c:pt idx="2">
                <c:v>Lab Technician</c:v>
              </c:pt>
              <c:pt idx="3">
                <c:v>HR</c:v>
              </c:pt>
            </c:strLit>
          </c:cat>
          <c:val>
            <c:numLit>
              <c:formatCode>General</c:formatCode>
              <c:ptCount val="4"/>
              <c:pt idx="0">
                <c:v>326</c:v>
              </c:pt>
              <c:pt idx="1">
                <c:v>292</c:v>
              </c:pt>
              <c:pt idx="2">
                <c:v>259</c:v>
              </c:pt>
              <c:pt idx="3">
                <c:v>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A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D0D0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D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D68"/>
                </a:solidFill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BFAF7"/>
        </a:solidFill>
      </c:spPr>
    </c:plotArea>
    <c:plotVisOnly val="1"/>
  </c:chart>
  <c:spPr>
    <a:solidFill xmlns:a="http://schemas.openxmlformats.org/drawingml/2006/main">
      <a:srgbClr val="FBFAF7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Attrition rate</c:v>
          </c:tx>
          <c:spPr>
            <a:solidFill xmlns:a="http://schemas.openxmlformats.org/drawingml/2006/main">
              <a:srgbClr val="C69A4B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A9A7A2"/>
              </a:solidFill>
            </c:spPr>
          </c:dPt>
          <c:cat>
            <c:strLit>
              <c:ptCount val="3"/>
              <c:pt idx="0">
                <c:v>Sales</c:v>
              </c:pt>
              <c:pt idx="1">
                <c:v>Human Resources</c:v>
              </c:pt>
              <c:pt idx="2">
                <c:v>R&amp;D</c:v>
              </c:pt>
            </c:strLit>
          </c:cat>
          <c:val>
            <c:numLit>
              <c:formatCode>General</c:formatCode>
              <c:ptCount val="3"/>
              <c:pt idx="0">
                <c:v>20.63</c:v>
              </c:pt>
              <c:pt idx="1">
                <c:v>19.05</c:v>
              </c:pt>
              <c:pt idx="2">
                <c:v>13.84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D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6D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A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D0D0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7"/>
        </a:solidFill>
      </c:spPr>
    </c:plotArea>
    <c:plotVisOnly val="1"/>
  </c:chart>
  <c:spPr>
    <a:solidFill xmlns:a="http://schemas.openxmlformats.org/drawingml/2006/main">
      <a:srgbClr val="FBFAF7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1C34F-007E-4F82-BFA5-CD5DE17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5a704e1414308"/>
          <a:stretch xmlns:a="http://schemas.openxmlformats.org/drawingml/2006/main"/>
        </p:blipFill>
        <p:spPr>
          <a:xfrm xmlns:a="http://schemas.openxmlformats.org/drawingml/2006/main">
            <a:off x="9380642" y="857250"/>
            <a:ext cx="1955592" cy="1476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74636-8552-4259-A261-5EBA902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0487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0E8"/>
                </a:solidFill>
              </a:defRPr>
            </a:pPr>
            <a:r>
              <a:rPr sz="1350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D4532-4A0D-43A8-A932-55C8618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668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9A4B"/>
                </a:solidFill>
              </a:defRPr>
            </a:pPr>
            <a:r>
              <a:rPr sz="1050" b="1">
                <a:solidFill>
                  <a:srgbClr val="C69A4B"/>
                </a:solidFill>
              </a:rPr>
              <a:t>DATA SCIENCE × AI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8BDF5-9C13-4C02-BFE2-AE0594F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9A4B"/>
                </a:solidFill>
              </a:defRPr>
            </a:pPr>
            <a:r>
              <a:rPr sz="1050" b="1">
                <a:solidFill>
                  <a:srgbClr val="C69A4B"/>
                </a:solidFill>
              </a:rPr>
              <a:t>DATA SCIENCE FIELD NOTES /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9F2F1-B00F-4048-A056-D2F0FD5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0E8"/>
                </a:solidFill>
              </a:defRPr>
            </a:pPr>
            <a:r>
              <a:rPr sz="4050" b="1">
                <a:solidFill>
                  <a:srgbClr val="F4F0E8"/>
                </a:solidFill>
              </a:rPr>
              <a:t>EMPLOYEE ATTRITION</a:t>
            </a:r>
          </a:p>
          <a:p xmlns:a="http://schemas.openxmlformats.org/drawingml/2006/main">
            <a:pPr>
              <a:defRPr sz="4050" b="1">
                <a:solidFill>
                  <a:srgbClr val="F4F0E8"/>
                </a:solidFill>
              </a:defRPr>
            </a:pPr>
            <a:r>
              <a:rPr sz="4050" b="1">
                <a:solidFill>
                  <a:srgbClr val="F4F0E8"/>
                </a:solidFill>
              </a:rPr>
              <a:t>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6463B-DCEE-4480-B4DD-77E41D1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A7A2"/>
                </a:solidFill>
              </a:defRPr>
            </a:pPr>
            <a:r>
              <a:rPr sz="1575">
                <a:solidFill>
                  <a:srgbClr val="A9A7A2"/>
                </a:solidFill>
              </a:rPr>
              <a:t>Patterns associated with workforce turnover in 1,470 employee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ADA0-1494-4E7A-A7E5-91937F7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816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AF793-B766-4F23-BC8A-EC382CE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4F0E8"/>
                </a:solidFill>
              </a:defRPr>
            </a:pPr>
            <a:r>
              <a:rPr sz="1050">
                <a:solidFill>
                  <a:srgbClr val="F4F0E8"/>
                </a:solidFill>
              </a:rPr>
              <a:t>AnalystLab Africa  |  Data Science Internship  |  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5A91-E1FD-4073-B3B9-AEEBDCAC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48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A7A2"/>
                </a:solidFill>
              </a:defRPr>
            </a:pPr>
            <a:r>
              <a:rPr sz="975">
                <a:solidFill>
                  <a:srgbClr val="A9A7A2"/>
                </a:solidFill>
              </a:rPr>
              <a:t>Learning. Building. Applying.</a:t>
            </a:r>
          </a:p>
        </p:txBody>
      </p:sp>
    </p:spTree>
    <p:extLst>
      <p:ext uri="{BB962C8B-B14F-4D97-AF65-F5344CB8AC3E}">
        <p14:creationId xmlns:p14="http://schemas.microsoft.com/office/powerpoint/2010/main" val="1694313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0CF83-3036-4A8B-A153-3BF7A0A6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13D7-2CE8-4C3B-8BC4-251347D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11950-4BBF-46A6-B0B4-D831505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24776107a4c67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747C4-5A31-4B26-B1DF-4B5353C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63DF6-AA80-4ACF-9866-44FE6E4E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BUSINESS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10FC8-8353-46D6-855B-6DDA53F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B5AB9-F648-48F5-BC62-C77C7FA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BUSINESS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B0D84-A611-4A7C-9296-DB3B566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Understand the pattern before predicting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46D73-AF5C-447D-8EED-8FD26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THE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6AB4C-991C-48BD-A14A-CB96FBC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667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D0D0D"/>
                </a:solidFill>
              </a:defRPr>
            </a:pPr>
            <a:r>
              <a:rPr sz="1500">
                <a:solidFill>
                  <a:srgbClr val="0D0D0D"/>
                </a:solidFill>
              </a:rPr>
              <a:t>ABC Manufacturing wants to understand where attrition is concentrated before investing in predictive modelling. The analysis examines workforce structure, overtime, departments, job roles, age, income and tenure.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2DF2A-6CC7-408D-89B2-A571C38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1CDD5-C4A5-4298-A201-89D39B4C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0D0D"/>
                </a:solidFill>
              </a:defRPr>
            </a:pPr>
            <a:r>
              <a:rPr sz="1500" b="1">
                <a:solidFill>
                  <a:srgbClr val="0D0D0D"/>
                </a:solidFill>
              </a:rPr>
              <a:t>1,470 employees  •  35 variables  •  0 missing values  •  0 complete duplicates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784DD-2C68-420B-8DC2-1672E1D2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3B4CD-0732-4982-9E9A-076B03F9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36E1E-B3E5-4188-8FEC-8C4AE20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EF98E-83CE-4413-9456-CD21AB9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0D0D"/>
                </a:solidFill>
              </a:defRPr>
            </a:pPr>
            <a:r>
              <a:rPr sz="1350">
                <a:solidFill>
                  <a:srgbClr val="0D0D0D"/>
                </a:solidFill>
              </a:rPr>
              <a:t>What does the workforce look like?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BB7CA-CE19-472F-9374-6335DD8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51533-FE4A-4F29-94AF-57355A3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0D0D"/>
                </a:solidFill>
              </a:defRPr>
            </a:pPr>
            <a:r>
              <a:rPr sz="1350">
                <a:solidFill>
                  <a:srgbClr val="0D0D0D"/>
                </a:solidFill>
              </a:rPr>
              <a:t>Which departments exceed the baseline?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ADDD6-91EC-4FC5-BE82-3189DD3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591C0-AB79-45B0-BE53-E66A42B0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0D0D"/>
                </a:solidFill>
              </a:defRPr>
            </a:pPr>
            <a:r>
              <a:rPr sz="1350">
                <a:solidFill>
                  <a:srgbClr val="0D0D0D"/>
                </a:solidFill>
              </a:rPr>
              <a:t>How strongly is overtime associated with attrition?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03E69-DAC1-4184-9053-24979C0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989B4-C915-4D84-945D-4FB7E2B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0D0D"/>
                </a:solidFill>
              </a:defRPr>
            </a:pPr>
            <a:r>
              <a:rPr sz="1350">
                <a:solidFill>
                  <a:srgbClr val="0D0D0D"/>
                </a:solidFill>
              </a:rPr>
              <a:t>Which roles show the highest turnover?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FF91E-3CFB-45E8-90E0-DEC90BF8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AA14E-7DBE-48F6-B01D-B01BCC9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0D0D"/>
                </a:solidFill>
              </a:defRPr>
            </a:pPr>
            <a:r>
              <a:rPr sz="1350">
                <a:solidFill>
                  <a:srgbClr val="0D0D0D"/>
                </a:solidFill>
              </a:rPr>
              <a:t>How do age, income and tenure differ between groups?</a:t>
            </a:r>
          </a:p>
        </p:txBody>
      </p:sp>
    </p:spTree>
    <p:extLst>
      <p:ext uri="{BB962C8B-B14F-4D97-AF65-F5344CB8AC3E}">
        <p14:creationId xmlns:p14="http://schemas.microsoft.com/office/powerpoint/2010/main" val="1251351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436DD-BB60-4441-9AF6-AD6FCD0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3656-1764-48B1-8037-AB0EEC6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B39F6-E1E2-48E0-8DDE-0681FBD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9e98b24004a7e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2946E-3C8B-453C-83F2-CF68BC2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76B24-AB25-4AFA-A188-C50B38C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WORKFORCE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444E0-6E4D-435F-BE18-A836564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7D8A8-B7EA-47E9-AB7B-74A757B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WORKFORCE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78050-F9C4-4855-AF19-D209535E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R&amp;D dominates headcount; three roles anchor staffing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5143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26065e9dbe4933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91250" y="2047875"/>
          <a:ext xmlns:a="http://schemas.openxmlformats.org/drawingml/2006/main" cx="5334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21487025e4e42"/>
          </a:graphicData>
        </a:graphic>
      </p:graphicFrame>
    </p:spTree>
    <p:extLst>
      <p:ext uri="{BB962C8B-B14F-4D97-AF65-F5344CB8AC3E}">
        <p14:creationId xmlns:p14="http://schemas.microsoft.com/office/powerpoint/2010/main" val="250985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71759-99B5-4481-A512-D889A550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551A2-E0BF-4281-9005-BE9B82E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dc81f3966474a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18FD3-D0BB-461C-A5E2-70F5252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781F-D6F5-4F9E-9A79-B5241AD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EMPLOYEE ATTRITION /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1A3EE-4A0D-4E41-BCE1-0C1B150C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32369-7F35-466A-92AC-CC8DCEA9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36C03-2026-4213-B36E-2776E579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0E8"/>
                </a:solidFill>
              </a:defRPr>
            </a:pPr>
            <a:r>
              <a:rPr sz="2850" b="1">
                <a:solidFill>
                  <a:srgbClr val="F4F0E8"/>
                </a:solidFill>
              </a:rPr>
              <a:t>One in six employees left in this dataset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d022079094bc6"/>
          <a:stretch xmlns:a="http://schemas.openxmlformats.org/drawingml/2006/main"/>
        </p:blipFill>
        <p:spPr>
          <a:xfrm xmlns:a="http://schemas.openxmlformats.org/drawingml/2006/main">
            <a:off x="940129" y="1952625"/>
            <a:ext cx="5739742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CEFBD-993D-4CEB-9297-2AD5D99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C69A4B"/>
                </a:solidFill>
              </a:defRPr>
            </a:pPr>
            <a:r>
              <a:rPr sz="4650" b="1">
                <a:solidFill>
                  <a:srgbClr val="C69A4B"/>
                </a:solidFill>
              </a:rPr>
              <a:t>16.12%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28279-F231-4B5D-9710-34EB1C3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0E8"/>
                </a:solidFill>
              </a:defRPr>
            </a:pPr>
            <a:r>
              <a:rPr sz="1650" b="1">
                <a:solidFill>
                  <a:srgbClr val="F4F0E8"/>
                </a:solidFill>
              </a:rPr>
              <a:t>237 of 1,470 employees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78EE7-5BF0-4D37-997E-84CAF70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338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9A7A2"/>
                </a:solidFill>
              </a:defRPr>
            </a:pPr>
            <a:r>
              <a:rPr sz="1425">
                <a:solidFill>
                  <a:srgbClr val="A9A7A2"/>
                </a:solidFill>
              </a:rPr>
              <a:t>This company-wide rate is the reference point for every subgroup. A department, role or condition is considered elevated only when its observed rate sits meaningfully above the 16.12% baseline.</a:t>
            </a:r>
          </a:p>
        </p:txBody>
      </p:sp>
    </p:spTree>
    <p:extLst>
      <p:ext uri="{BB962C8B-B14F-4D97-AF65-F5344CB8AC3E}">
        <p14:creationId xmlns:p14="http://schemas.microsoft.com/office/powerpoint/2010/main" val="747606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20432-511D-48D7-8A29-699C3FA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70082-B80E-47FB-A241-CA4BC85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F0182-5F20-46A8-8766-5C798B9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74b9c622b42a6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771EB-A213-4E2B-8C3E-A6ABE77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BE0DE-CFDC-4082-BEE8-5AE6A1C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OVERTIME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5C9C2-2C64-43A1-89D9-BE93A38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247C0-9F80-45B0-9A7F-E63F8E8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STRONGEST DESCRIPTIVE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C6079-8D8C-40AE-8403-A7BF74F9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Overtime nearly triples the attrition rate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8a8b158d54044"/>
          <a:stretch xmlns:a="http://schemas.openxmlformats.org/drawingml/2006/main"/>
        </p:blipFill>
        <p:spPr>
          <a:xfrm xmlns:a="http://schemas.openxmlformats.org/drawingml/2006/main">
            <a:off x="823913" y="1952625"/>
            <a:ext cx="6257925" cy="3905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D4720-2067-4765-9F39-E4802C8A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69A4B"/>
                </a:solidFill>
              </a:defRPr>
            </a:pPr>
            <a:r>
              <a:rPr sz="3450" b="1">
                <a:solidFill>
                  <a:srgbClr val="C69A4B"/>
                </a:solidFill>
              </a:rPr>
              <a:t>30.53%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C702F-78E1-43C3-BE7B-3EF1A7E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D68"/>
                </a:solidFill>
              </a:defRPr>
            </a:pPr>
            <a:r>
              <a:rPr sz="1275">
                <a:solidFill>
                  <a:srgbClr val="6F6D68"/>
                </a:solidFill>
              </a:rPr>
              <a:t>Works overtime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AA324-27E2-463D-8A0C-C6FE0DD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0D0D"/>
                </a:solidFill>
              </a:defRPr>
            </a:pPr>
            <a:r>
              <a:rPr sz="3450" b="1">
                <a:solidFill>
                  <a:srgbClr val="0D0D0D"/>
                </a:solidFill>
              </a:rPr>
              <a:t>10.44%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DB3E2-5160-4B63-BA20-89F8EDC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D68"/>
                </a:solidFill>
              </a:defRPr>
            </a:pPr>
            <a:r>
              <a:rPr sz="1275">
                <a:solidFill>
                  <a:srgbClr val="6F6D68"/>
                </a:solidFill>
              </a:rPr>
              <a:t>No overtime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A16A9-96CF-41D4-9ED8-3EE17D4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91518-7AFA-47E2-BF3F-58FDA875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10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D0D0D"/>
                </a:solidFill>
              </a:defRPr>
            </a:pPr>
            <a:r>
              <a:rPr sz="1425" b="1">
                <a:solidFill>
                  <a:srgbClr val="0D0D0D"/>
                </a:solidFill>
              </a:rPr>
              <a:t>+20.09 percentage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BBCE8-D422-412D-A20A-0798A05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0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Priority for investigation, not proof of causation.</a:t>
            </a:r>
          </a:p>
        </p:txBody>
      </p:sp>
    </p:spTree>
    <p:extLst>
      <p:ext uri="{BB962C8B-B14F-4D97-AF65-F5344CB8AC3E}">
        <p14:creationId xmlns:p14="http://schemas.microsoft.com/office/powerpoint/2010/main" val="1002893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4B3A7-886D-4522-9B27-1EAE3AE7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C3D47-F711-435A-935B-103F635B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CE062-F0C7-49DE-9C0F-AC28665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697816380443b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FA433-A82E-4C59-8C50-71A1D80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32D3C-E826-49CD-93AA-A5F3758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DEPARTMENTS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4F1B2-AD0D-49CC-AEF9-217313A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2310F-0A03-4C21-BAC7-F6517F55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DEPARTMENT CONCENTRATION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D40F4-BE9C-47C3-8E59-EB143441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Sales and HR exceed the company baseline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fa4f16e51f45a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2B902-C1A2-4410-93E1-3DCC9AC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READING THE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BF02B-F82E-4949-9A35-5101132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304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Sales: 20.63%</a:t>
            </a:r>
          </a:p>
          <a:p xmlns:a="http://schemas.openxmlformats.org/drawingml/2006/main">
            <a:pPr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HR: 19.05%</a:t>
            </a:r>
          </a:p>
          <a:p xmlns:a="http://schemas.openxmlformats.org/drawingml/2006/main">
            <a:pPr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Overall: 16.12%</a:t>
            </a:r>
          </a:p>
          <a:p xmlns:a="http://schemas.openxmlformats.org/drawingml/2006/main">
            <a:pPr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R&amp;D: 13.84%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E9BD2-84C1-4E9F-947C-493971C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958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HR contains only 63 employees, so its rate is less stable. Department results should be interpreted with role mix and headcount in view.</a:t>
            </a:r>
          </a:p>
        </p:txBody>
      </p:sp>
    </p:spTree>
    <p:extLst>
      <p:ext uri="{BB962C8B-B14F-4D97-AF65-F5344CB8AC3E}">
        <p14:creationId xmlns:p14="http://schemas.microsoft.com/office/powerpoint/2010/main" val="19894335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DBD85-96A3-4022-98D5-78C3B5CA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65B11-7D34-4787-A099-312C01C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36d46df764cae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0869-AECB-4EE8-A620-55F9527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1B8FE-B475-4867-81B1-58FFA37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EMPLOYEE ATTRITION / JOB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084F-7EE0-416D-9063-A7D8E0FE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84D5B-FD22-4D1E-A857-DD49D091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SHARPEST DIVIDE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730A9-66D7-473F-A8F5-1253AF8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0E8"/>
                </a:solidFill>
              </a:defRPr>
            </a:pPr>
            <a:r>
              <a:rPr sz="2850" b="1">
                <a:solidFill>
                  <a:srgbClr val="F4F0E8"/>
                </a:solidFill>
              </a:rPr>
              <a:t>Attrition concentrates in specific roles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99d4ab892451e"/>
          <a:stretch xmlns:a="http://schemas.openxmlformats.org/drawingml/2006/main"/>
        </p:blipFill>
        <p:spPr>
          <a:xfrm xmlns:a="http://schemas.openxmlformats.org/drawingml/2006/main">
            <a:off x="1068427" y="1762125"/>
            <a:ext cx="7007146" cy="4429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2C875-9C37-4764-B988-3CA079D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69A4B"/>
                </a:solidFill>
              </a:defRPr>
            </a:pPr>
            <a:r>
              <a:rPr sz="3450" b="1">
                <a:solidFill>
                  <a:srgbClr val="C69A4B"/>
                </a:solidFill>
              </a:rPr>
              <a:t>39.76%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808DD-561F-4410-9DD2-1EAB206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0E8"/>
                </a:solidFill>
              </a:defRPr>
            </a:pPr>
            <a:r>
              <a:rPr sz="1500" b="1">
                <a:solidFill>
                  <a:srgbClr val="F4F0E8"/>
                </a:solidFill>
              </a:rPr>
              <a:t>Sales Representatives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FC6DC-EC0F-47B0-9861-FB73986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623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E0690-2233-4834-B9FA-8F1009A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481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0E8"/>
                </a:solidFill>
              </a:defRPr>
            </a:pPr>
            <a:r>
              <a:rPr sz="2850" b="1">
                <a:solidFill>
                  <a:srgbClr val="F4F0E8"/>
                </a:solidFill>
              </a:rPr>
              <a:t>23.94%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85C70-107F-4C14-B25C-7B7185A9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29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A7A2"/>
                </a:solidFill>
              </a:defRPr>
            </a:pPr>
            <a:r>
              <a:rPr sz="1350">
                <a:solidFill>
                  <a:srgbClr val="A9A7A2"/>
                </a:solidFill>
              </a:rPr>
              <a:t>Laboratory Technicians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5C4C4-CD1E-4918-971E-F845F513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81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A7A2"/>
                </a:solidFill>
              </a:defRPr>
            </a:pPr>
            <a:r>
              <a:rPr sz="1200">
                <a:solidFill>
                  <a:srgbClr val="A9A7A2"/>
                </a:solidFill>
              </a:rPr>
              <a:t>Role-specific investigation matters more than a single company-wide conclusion.</a:t>
            </a:r>
          </a:p>
        </p:txBody>
      </p:sp>
    </p:spTree>
    <p:extLst>
      <p:ext uri="{BB962C8B-B14F-4D97-AF65-F5344CB8AC3E}">
        <p14:creationId xmlns:p14="http://schemas.microsoft.com/office/powerpoint/2010/main" val="1775235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63816-7940-4392-91A6-7F834A0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19A44-1FCC-4CB5-A08D-61D5042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C48D1-F68B-4B86-A717-18ABC045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6a05666794549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AAA3D-E102-420E-A0A5-83C816A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9435B-97BF-4575-9D88-753FE018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EMPLOYEE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91BF6-8451-4657-8894-B70CB8C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99B53-A17D-4899-946C-C7735565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WHO IS LEAVING?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2A2E1-7966-40F7-8D14-FF93A5E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Leavers skew younger, lower-paid and less experienced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40360-BEF8-401B-A72D-B4194C0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D07B8-9C3E-4360-8072-276545DE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69A4B"/>
                </a:solidFill>
              </a:defRPr>
            </a:pPr>
            <a:r>
              <a:rPr sz="3450" b="1">
                <a:solidFill>
                  <a:srgbClr val="C69A4B"/>
                </a:solidFill>
              </a:rPr>
              <a:t>33.6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7463C-08C7-4BE3-9E4D-7F8A7792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Left company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1699E-C89D-4B43-8432-C3224E74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37.6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47B73-4FF7-48E8-A400-85A12ABD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Stayed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168AC-F96F-4B6D-95C2-F53CF755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A7A2"/>
                </a:solidFill>
              </a:defRPr>
            </a:pPr>
            <a:r>
              <a:rPr sz="1050">
                <a:solidFill>
                  <a:srgbClr val="A9A7A2"/>
                </a:solidFill>
              </a:rPr>
              <a:t>years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8F772-192D-47D4-8BC3-A388559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547A6-613D-44BE-AC7D-A380232B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MONTHLY INCOME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939DD-39CA-4A04-9896-4D1F958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69A4B"/>
                </a:solidFill>
              </a:defRPr>
            </a:pPr>
            <a:r>
              <a:rPr sz="3450" b="1">
                <a:solidFill>
                  <a:srgbClr val="C69A4B"/>
                </a:solidFill>
              </a:rPr>
              <a:t>4,787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B27B6-6444-4197-A1E5-9643BC0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Left company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AFA09-6C71-46DC-9BE2-D0A3240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6,833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C3AF8-BE1F-4A71-A0A7-6152982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Stayed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2163F-53E8-4E1F-A839-4C9A7019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A7A2"/>
                </a:solidFill>
              </a:defRPr>
            </a:pPr>
            <a:r>
              <a:rPr sz="1050">
                <a:solidFill>
                  <a:srgbClr val="A9A7A2"/>
                </a:solidFill>
              </a:rPr>
              <a:t>average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6FB95-21E9-4FF0-83E7-3CF3003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9257A-AD99-4D45-A3BE-4569237F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9A4B"/>
                </a:solidFill>
              </a:defRPr>
            </a:pPr>
            <a:r>
              <a:rPr sz="1125" b="1">
                <a:solidFill>
                  <a:srgbClr val="C69A4B"/>
                </a:solidFill>
              </a:rPr>
              <a:t>TOTAL WORKING YEARS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EF88E-DFED-40A0-87A9-ABD8F86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69A4B"/>
                </a:solidFill>
              </a:defRPr>
            </a:pPr>
            <a:r>
              <a:rPr sz="3450" b="1">
                <a:solidFill>
                  <a:srgbClr val="C69A4B"/>
                </a:solidFill>
              </a:rPr>
              <a:t>8.2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AC514-B232-4E6B-956D-0854C45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Left company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0D92F-8173-4A96-94C7-4D0C938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11.9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DD97A-5025-4E4D-9A9C-97CCCDA3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D68"/>
                </a:solidFill>
              </a:defRPr>
            </a:pPr>
            <a:r>
              <a:rPr sz="1200">
                <a:solidFill>
                  <a:srgbClr val="6F6D68"/>
                </a:solidFill>
              </a:rPr>
              <a:t>Stayed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E3E30-9410-4726-AA39-C429E6FD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A7A2"/>
                </a:solidFill>
              </a:defRPr>
            </a:pPr>
            <a:r>
              <a:rPr sz="1050">
                <a:solidFill>
                  <a:srgbClr val="A9A7A2"/>
                </a:solidFill>
              </a:rPr>
              <a:t>years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D6C206-956B-46D3-9D0F-13C2D780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F6D68"/>
                </a:solidFill>
              </a:defRPr>
            </a:pPr>
            <a:r>
              <a:rPr sz="1275">
                <a:solidFill>
                  <a:srgbClr val="6F6D68"/>
                </a:solidFill>
              </a:rPr>
              <a:t>These averages overlap between groups. They are candidate signals to assess jointly with overtime and role, not standalone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111832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D8704-1B67-46B9-B619-6916E9D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7AE31-EE74-47B5-BB3A-1B682788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C77DE-2881-43C7-A196-389DD17B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df25e47c84273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6ED70-54C2-468D-91D8-7C813CE7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6A7D-A686-4DBB-9FEE-D39C115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EMPLOYEE ATTRITION / BUSINESS INSIGHTS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85CC-4E57-435A-ADA9-6580F6D5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6F6D68"/>
                </a:solidFill>
              </a:defRPr>
            </a:pPr>
            <a:r>
              <a:rPr sz="675">
                <a:solidFill>
                  <a:srgbClr val="6F6D6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8F465-2AF1-44D3-8866-F3F5CF2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WHAT HR SHOULD INVESTIGATE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1E61E-0359-4275-AB56-FA5BDD8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0D0D"/>
                </a:solidFill>
              </a:defRPr>
            </a:pPr>
            <a:r>
              <a:rPr sz="2850" b="1">
                <a:solidFill>
                  <a:srgbClr val="0D0D0D"/>
                </a:solidFill>
              </a:rPr>
              <a:t>Five evidence-led priorities from the exploratory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09806-1EBA-4634-9F70-F39C2C0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417F4-37EC-420D-BD63-D3EFF8E0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Overtime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33DFF-4EE9-47B2-B89C-3A5F847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30.53% attrition versus 10.44% without overtime.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CC470-D263-477B-A33B-AEA30B1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BDE69-53B6-4E01-92D5-90C956C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38F74-A88E-4667-B431-18D15A71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Role concentration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18C00-F45A-40F4-A94D-B9B1EADB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Sales Representatives and Laboratory Technicians stand out.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33DAE-038F-46F4-8C01-2ADA13D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1D3E4-2349-4467-91CB-B63179F2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8EB55-120F-43F5-B122-99021506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Department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514ED-F1CD-4E09-BE71-8A0E6C22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766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Sales and HR exceed the 16.12% company baseline.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6C02E-309A-444C-983D-0B4B550B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19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34BB6-C02C-4740-B1DA-336B8C85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4BD13-8FDE-4678-971B-11B4A3DE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Career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8F7FE-03E2-4BE6-87D7-8B2AFD0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Leavers are younger and less experienced on average.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0D696-EDDB-4AD2-9955-855FEF0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196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3795C-D88F-45B6-B899-817D3440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A81ED3-6ADC-4420-A672-9D51ACA4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7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Compensation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17AA2-64F5-4EE5-BED0-717DD96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76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6D68"/>
                </a:solidFill>
              </a:defRPr>
            </a:pPr>
            <a:r>
              <a:rPr sz="1350">
                <a:solidFill>
                  <a:srgbClr val="6F6D68"/>
                </a:solidFill>
              </a:rPr>
              <a:t>Lower average income travels with attrition, but does not prove cause.</a:t>
            </a:r>
          </a:p>
        </p:txBody>
      </p:sp>
    </p:spTree>
    <p:extLst>
      <p:ext uri="{BB962C8B-B14F-4D97-AF65-F5344CB8AC3E}">
        <p14:creationId xmlns:p14="http://schemas.microsoft.com/office/powerpoint/2010/main" val="695578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62080-076B-499F-8B92-9C9BF21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F0E8"/>
                </a:solidFill>
              </a:defRPr>
            </a:pPr>
            <a:r>
              <a:rPr sz="975" b="1">
                <a:solidFill>
                  <a:srgbClr val="F4F0E8"/>
                </a:solidFill>
              </a:rPr>
              <a:t>WILSON MOSES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D85F7-12F0-45C6-B54E-C942984B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69A4B"/>
                </a:solidFill>
              </a:defRPr>
            </a:pPr>
            <a:r>
              <a:rPr sz="750" b="1">
                <a:solidFill>
                  <a:srgbClr val="C69A4B"/>
                </a:solidFill>
              </a:rPr>
              <a:t>DATA SCIENCE FIELD NOTES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1ea5086294329"/>
          <a:stretch xmlns:a="http://schemas.openxmlformats.org/drawingml/2006/main"/>
        </p:blipFill>
        <p:spPr>
          <a:xfrm xmlns:a="http://schemas.openxmlformats.org/drawingml/2006/main">
            <a:off x="11057432" y="123825"/>
            <a:ext cx="630836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2243D-F987-4D45-9F57-D869647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AA0D-B730-41AE-AE5F-16FC1706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EMPLOYEE ATTRITION / 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17975-0F2D-4422-BCA0-A55196E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81775"/>
            <a:ext cx="504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A9A7A2"/>
                </a:solidFill>
              </a:defRPr>
            </a:pPr>
            <a:r>
              <a:rPr sz="675">
                <a:solidFill>
                  <a:srgbClr val="A9A7A2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48416-F1C7-4811-BDBC-DCE3D54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69A4B"/>
                </a:solidFill>
              </a:defRPr>
            </a:pPr>
            <a:r>
              <a:rPr sz="975" b="1">
                <a:solidFill>
                  <a:srgbClr val="C69A4B"/>
                </a:solidFill>
              </a:rPr>
              <a:t>CONTINUE FROM EVIDENCE TO RESPONSIBLE MODELLING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55D01-168F-405E-B16B-493864F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0E8"/>
                </a:solidFill>
              </a:defRPr>
            </a:pPr>
            <a:r>
              <a:rPr sz="2850" b="1">
                <a:solidFill>
                  <a:srgbClr val="F4F0E8"/>
                </a:solidFill>
              </a:rPr>
              <a:t>Four steps protect the quality of the next 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614D8-734E-4A4F-AD38-EE7BA311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8D4C4-6673-4116-AFE5-4817AAC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0E8"/>
                </a:solidFill>
              </a:defRPr>
            </a:pPr>
            <a:r>
              <a:rPr sz="1875" b="1">
                <a:solidFill>
                  <a:srgbClr val="F4F0E8"/>
                </a:solidFill>
              </a:rPr>
              <a:t>Test the differences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A4C81-5FFB-4B1C-A922-AED0A07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A7A2"/>
                </a:solidFill>
              </a:defRPr>
            </a:pPr>
            <a:r>
              <a:rPr sz="1350">
                <a:solidFill>
                  <a:srgbClr val="A9A7A2"/>
                </a:solidFill>
              </a:rPr>
              <a:t>Add statistical tests and effect sizes to the descriptive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D9D6C-1486-4770-AC27-263C804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3362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EA78A-93FB-4ECE-BE35-6D9622A4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9534-00EC-4E8C-96C4-50A30053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0E8"/>
                </a:solidFill>
              </a:defRPr>
            </a:pPr>
            <a:r>
              <a:rPr sz="1875" b="1">
                <a:solidFill>
                  <a:srgbClr val="F4F0E8"/>
                </a:solidFill>
              </a:rPr>
              <a:t>Build a feature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2E68E-BB32-453E-9C9F-4FA42AB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62375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A7A2"/>
                </a:solidFill>
              </a:defRPr>
            </a:pPr>
            <a:r>
              <a:rPr sz="1350">
                <a:solidFill>
                  <a:srgbClr val="A9A7A2"/>
                </a:solidFill>
              </a:rPr>
              <a:t>Separate predictors, identifiers, constants and potential fairness risks.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932FE-E90B-4BDB-9F79-79D1807B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1AD71-40CC-4AA1-A805-E12D1E4D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2740E-4E3D-4243-ACAE-F35815D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0E8"/>
                </a:solidFill>
              </a:defRPr>
            </a:pPr>
            <a:r>
              <a:rPr sz="1875" b="1">
                <a:solidFill>
                  <a:srgbClr val="F4F0E8"/>
                </a:solidFill>
              </a:rPr>
              <a:t>Model carefully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7CEA3-E1EA-4BF3-AFAB-E4BA82A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A7A2"/>
                </a:solidFill>
              </a:defRPr>
            </a:pPr>
            <a:r>
              <a:rPr sz="1350">
                <a:solidFill>
                  <a:srgbClr val="A9A7A2"/>
                </a:solidFill>
              </a:rPr>
              <a:t>Use leakage-safe splits, transparent baselines and class-sensitive metrics.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3D2F7-4DE2-4C7C-8302-4E2C5EB2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3362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CD944-B890-423D-B2DC-6313B74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6F36A-059A-467B-8C1B-67E7327F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57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F0E8"/>
                </a:solidFill>
              </a:defRPr>
            </a:pPr>
            <a:r>
              <a:rPr sz="1875" b="1">
                <a:solidFill>
                  <a:srgbClr val="F4F0E8"/>
                </a:solidFill>
              </a:rPr>
              <a:t>Design HR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E0AD8-9663-4953-8D12-29A69D4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62375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A7A2"/>
                </a:solidFill>
              </a:defRPr>
            </a:pPr>
            <a:r>
              <a:rPr sz="1350">
                <a:solidFill>
                  <a:srgbClr val="A9A7A2"/>
                </a:solidFill>
              </a:rPr>
              <a:t>Pair quantitative evidence with interviews, workload context and human review.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621E9-E4FF-49D3-96FE-17EAED3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69A4B"/>
                </a:solidFill>
              </a:defRPr>
            </a:pPr>
            <a:r>
              <a:rPr sz="1500" b="1">
                <a:solidFill>
                  <a:srgbClr val="C69A4B"/>
                </a:solidFill>
              </a:rPr>
              <a:t>The strongest descriptive pattern is a starting point for investigation - not proof of causation.</a:t>
            </a:r>
          </a:p>
        </p:txBody>
      </p:sp>
    </p:spTree>
    <p:extLst>
      <p:ext uri="{BB962C8B-B14F-4D97-AF65-F5344CB8AC3E}">
        <p14:creationId xmlns:p14="http://schemas.microsoft.com/office/powerpoint/2010/main" val="1718735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2026-09-02T08:50:17.9810000Z</dcterms:created>
  <dcterms:modified xsi:type="dcterms:W3CDTF">2026-09-02T08:50:17.9810000Z</dcterms:modified>
</coreProperties>
</file>