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lang="en-ZA" sz="1300" b="0" i="0" u="none" strike="noStrike">
                <a:solidFill>
                  <a:srgbClr val="1A1A1A"/>
                </a:solidFill>
                <a:latin typeface="Calibri"/>
              </a:rPr>
              <a:t>Employees by Department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9C83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Research &amp;
Development</c:v>
                </c:pt>
                <c:pt idx="1">
                  <c:v>Sales</c:v>
                </c:pt>
                <c:pt idx="2">
                  <c:v>Human
Resources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961</c:v>
                </c:pt>
                <c:pt idx="1">
                  <c:v>446</c:v>
                </c:pt>
                <c:pt idx="2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E1-4066-9F25-6A2EB3C393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lang="en-ZA" sz="1300" b="0" i="0" u="none" strike="noStrike">
                <a:solidFill>
                  <a:srgbClr val="1A1A1A"/>
                </a:solidFill>
                <a:latin typeface="Calibri"/>
              </a:rPr>
              <a:t>Largest &amp; Smallest Job Roles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Sales
Executive</c:v>
                </c:pt>
                <c:pt idx="1">
                  <c:v>Research
Scientist</c:v>
                </c:pt>
                <c:pt idx="2">
                  <c:v>Laboratory
Technician</c:v>
                </c:pt>
                <c:pt idx="3">
                  <c:v>Human
Resources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326</c:v>
                </c:pt>
                <c:pt idx="1">
                  <c:v>292</c:v>
                </c:pt>
                <c:pt idx="2">
                  <c:v>259</c:v>
                </c:pt>
                <c:pt idx="3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E8-4BF0-A6C9-68322808D6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C7A3"/>
              </a:solidFill>
              <a:ln w="25400" cap="flat">
                <a:solidFill>
                  <a:srgbClr val="1A1A1A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BF21-4353-8FED-98BF1BB600E6}"/>
              </c:ext>
            </c:extLst>
          </c:dPt>
          <c:dPt>
            <c:idx val="1"/>
            <c:bubble3D val="0"/>
            <c:spPr>
              <a:solidFill>
                <a:srgbClr val="5A4A2E"/>
              </a:solidFill>
              <a:ln w="25400" cap="flat">
                <a:solidFill>
                  <a:srgbClr val="1A1A1A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BF21-4353-8FED-98BF1BB600E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1A1A1A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21-4353-8FED-98BF1BB600E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1A1A1A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F21-4353-8FED-98BF1BB600E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Stayed</c:v>
                </c:pt>
                <c:pt idx="1">
                  <c:v>Left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1233</c:v>
                </c:pt>
                <c:pt idx="1">
                  <c:v>237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F21-4353-8FED-98BF1BB600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lang="en-GB" sz="1300" b="0" i="0" u="none" strike="noStrike">
                <a:solidFill>
                  <a:srgbClr val="1A1A1A"/>
                </a:solidFill>
                <a:latin typeface="Calibri"/>
              </a:rPr>
              <a:t>Attrition Rate by Overtime Status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Works Overtime</c:v>
                </c:pt>
                <c:pt idx="1">
                  <c:v>No Overtime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30.53</c:v>
                </c:pt>
                <c:pt idx="1">
                  <c:v>10.44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86-4CA5-879D-1727067BAE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lang="en-ZA" sz="1300" b="0" i="0" u="none" strike="noStrike">
                <a:solidFill>
                  <a:srgbClr val="1A1A1A"/>
                </a:solidFill>
                <a:latin typeface="Calibri"/>
              </a:rPr>
              <a:t>Attrition Rate by Department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9C8355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Sales</c:v>
                </c:pt>
                <c:pt idx="1">
                  <c:v>Human
Resources</c:v>
                </c:pt>
                <c:pt idx="2">
                  <c:v>Research &amp;
Development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20.63</c:v>
                </c:pt>
                <c:pt idx="1">
                  <c:v>19.05</c:v>
                </c:pt>
                <c:pt idx="2">
                  <c:v>13.84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16-44B0-B7B3-A32719D009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D9C7A3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Sales
Representative</c:v>
                </c:pt>
                <c:pt idx="1">
                  <c:v>Laboratory
Technician</c:v>
                </c:pt>
                <c:pt idx="2">
                  <c:v>Human
Resources</c:v>
                </c:pt>
                <c:pt idx="3">
                  <c:v>Manager</c:v>
                </c:pt>
                <c:pt idx="4">
                  <c:v>Research
Director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39.76</c:v>
                </c:pt>
                <c:pt idx="1">
                  <c:v>23.94</c:v>
                </c:pt>
                <c:pt idx="2">
                  <c:v>23.08</c:v>
                </c:pt>
                <c:pt idx="3">
                  <c:v>4.9000000000000004</c:v>
                </c:pt>
                <c:pt idx="4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F2-4CC5-98DB-F982420EB3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5555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4444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555555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8077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D9C7A3"/>
          </a:solidFill>
          <a:ln/>
        </p:spPr>
      </p:sp>
      <p:sp>
        <p:nvSpPr>
          <p:cNvPr id="3" name="Text 1"/>
          <p:cNvSpPr/>
          <p:nvPr/>
        </p:nvSpPr>
        <p:spPr>
          <a:xfrm>
            <a:off x="4663440" y="21488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D9C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MANUFACTURING LTD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63440" y="26060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Attrition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663440" y="3566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Insights from Exploratory Data Analysis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63440" y="60350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Consulting  |  Data Science Internship Programme, Week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63093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</a:t>
            </a:r>
            <a:r>
              <a:rPr lang="en-US" sz="1200" dirty="0" smtClean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</a:t>
            </a: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Moses, Junior Data Scientist</a:t>
            </a:r>
            <a:endParaRPr lang="en-US" sz="1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677" y="5150"/>
            <a:ext cx="1122405" cy="11224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8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Analysis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97680"/>
          </a:xfrm>
          <a:prstGeom prst="rect">
            <a:avLst/>
          </a:prstGeom>
          <a:solidFill>
            <a:srgbClr val="F1E9D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8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Manufacturing Ltd's HR department wants to understand why employees are leaving, before investing in predictive machine-learning models. AnalystLab Africa Consulting was engaged to investigate.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8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 – Employee Attrition &amp; Performance: 1,470 employee records across 35 attributes, covering demographics, compensation, role, and satisfaction data.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8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176272"/>
            <a:ext cx="292608" cy="29260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176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2084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workforce look like?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2816352"/>
            <a:ext cx="292608" cy="29260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8163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0840" y="2788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departments have the highest attrition?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3456432"/>
            <a:ext cx="292608" cy="29260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4564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20840" y="3429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age influence attrition?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09360" y="4096512"/>
            <a:ext cx="292608" cy="29260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40965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4069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income affect retention?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09360" y="4736592"/>
            <a:ext cx="292608" cy="29260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4736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20840" y="4709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overtime influence attrition?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309360" y="5376672"/>
            <a:ext cx="292608" cy="29260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5376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20840" y="5349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job roles turn over the most?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Business Context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686800" y="6537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Manufacturing | Attrition Analysis</a:t>
            </a:r>
            <a:endParaRPr lang="en-US" sz="9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064" y="6672"/>
            <a:ext cx="1083936" cy="10839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8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Department- and Role-Heavy Organisation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17920" y="169164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Workforce Overview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8686800" y="6537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Manufacturing | Attrition Analysis</a:t>
            </a:r>
            <a:endParaRPr lang="en-US" sz="9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064" y="6672"/>
            <a:ext cx="1083936" cy="10839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C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Attrition Rate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45920"/>
          <a:ext cx="51206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201168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D9C7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16.1%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6309360" y="32004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in this dataset left the company (237 of 1,470).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09360" y="411480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baseline every subgroup is judged against for the rest of this deck. A department, role, or condition is only “high attrition” if its rate sits meaningfully above 16.1%.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Overall Attrition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37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Manufacturing | Attrition Analysis</a:t>
            </a:r>
            <a:endParaRPr lang="en-US" sz="9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677" y="5150"/>
            <a:ext cx="1122405" cy="11224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8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DRIVER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Overtime Is the Single Biggest Attrition Signal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1264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737360"/>
            <a:ext cx="2148840" cy="2011680"/>
          </a:xfrm>
          <a:prstGeom prst="rect">
            <a:avLst/>
          </a:prstGeom>
          <a:solidFill>
            <a:srgbClr val="F1E9D8"/>
          </a:solidFill>
          <a:ln/>
        </p:spPr>
      </p:sp>
      <p:sp>
        <p:nvSpPr>
          <p:cNvPr id="6" name="Text 3"/>
          <p:cNvSpPr/>
          <p:nvPr/>
        </p:nvSpPr>
        <p:spPr>
          <a:xfrm>
            <a:off x="7040880" y="18745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9C8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30.5%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178040" y="29260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among employees who work overtime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372600" y="1737360"/>
            <a:ext cx="2148840" cy="2011680"/>
          </a:xfrm>
          <a:prstGeom prst="rect">
            <a:avLst/>
          </a:prstGeom>
          <a:solidFill>
            <a:srgbClr val="F1E9D8"/>
          </a:solidFill>
          <a:ln/>
        </p:spPr>
      </p:sp>
      <p:sp>
        <p:nvSpPr>
          <p:cNvPr id="9" name="Text 6"/>
          <p:cNvSpPr/>
          <p:nvPr/>
        </p:nvSpPr>
        <p:spPr>
          <a:xfrm>
            <a:off x="9372600" y="18745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10.4%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9509760" y="29260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among employees with no overtime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40880" y="3977640"/>
            <a:ext cx="4480560" cy="1965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7223760" y="4114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C7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 pts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223760" y="466344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the two groups — the largest single-factor difference found in this analysis. Overtime should be treated as a priority factor for the follow-up predictive model.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Overtime &amp; Attrition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686800" y="6537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Manufacturing | Attrition Analysis</a:t>
            </a:r>
            <a:endParaRPr lang="en-US" sz="9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064" y="13344"/>
            <a:ext cx="1083936" cy="10839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8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ATTRITION CONCENTRATES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and HR Lose Staff Faster Than R&amp;D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4922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691640"/>
            <a:ext cx="0" cy="42976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0664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8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Gap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06640" y="2194560"/>
            <a:ext cx="4206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attrition rate across ABC Manufacturing sits at 16.12%.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(20.63%) and HR (19.05%) both sit above that baseline.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(13.84%) sits below it, despite being the largest department by headcount.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HR's rate is based on a much smaller headcount (63 employees), so it should be read with caution — a handful of leavers moves the percentage a lot.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Department &amp; Attrition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37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Manufacturing | Attrition Analysis</a:t>
            </a:r>
            <a:endParaRPr lang="en-US" sz="9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064" y="6672"/>
            <a:ext cx="1083936" cy="10839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C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 ROLES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1953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Role Is the Sharpest Attrition Divide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110642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Job Role &amp; Attrition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537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Manufacturing | Attrition Analysis</a:t>
            </a:r>
            <a:endParaRPr lang="en-US" sz="9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677" y="5150"/>
            <a:ext cx="1122405" cy="11224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8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LEAVING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Leavers Skew Younger, Lower-Paid, and Less Tenured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297680"/>
          </a:xfrm>
          <a:prstGeom prst="rect">
            <a:avLst/>
          </a:prstGeom>
          <a:solidFill>
            <a:srgbClr val="F1E9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C8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the company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703320"/>
            <a:ext cx="3246120" cy="0"/>
          </a:xfrm>
          <a:prstGeom prst="line">
            <a:avLst/>
          </a:prstGeom>
          <a:noFill/>
          <a:ln w="12700">
            <a:solidFill>
              <a:srgbClr val="CFC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8404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 with the company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53949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691640"/>
            <a:ext cx="3611880" cy="4297680"/>
          </a:xfrm>
          <a:prstGeom prst="rect">
            <a:avLst/>
          </a:prstGeom>
          <a:solidFill>
            <a:srgbClr val="F1E9D8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8745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24688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C8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4,787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480560" y="32918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the company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3703320"/>
            <a:ext cx="3246120" cy="0"/>
          </a:xfrm>
          <a:prstGeom prst="line">
            <a:avLst/>
          </a:prstGeom>
          <a:noFill/>
          <a:ln w="12700">
            <a:solidFill>
              <a:srgbClr val="CFC3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8404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6,833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480560" y="46634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 with the company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53949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46720" y="1691640"/>
            <a:ext cx="3611880" cy="4297680"/>
          </a:xfrm>
          <a:prstGeom prst="rect">
            <a:avLst/>
          </a:prstGeom>
          <a:solidFill>
            <a:srgbClr val="F1E9D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18745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Working Years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0" y="24688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C8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8229600" y="32918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the company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3703320"/>
            <a:ext cx="3246120" cy="0"/>
          </a:xfrm>
          <a:prstGeom prst="line">
            <a:avLst/>
          </a:prstGeom>
          <a:noFill/>
          <a:ln w="12700">
            <a:solidFill>
              <a:srgbClr val="CFC3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38404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11.9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8229600" y="46634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 with the company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53949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gaps overlap between groups — none of these variables alone determines attrition. Together with overtime and job role, they form the strongest candidate feature set for the predictive model in the next phase.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Age, Income &amp; Tenure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0" y="6537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Manufacturing | Attrition Analysis</a:t>
            </a:r>
            <a:endParaRPr lang="en-US" sz="9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6632" y="16310"/>
            <a:ext cx="1083936" cy="10839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8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Key Takeaways for HR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77240" cy="7132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C7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664208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is the strongest single driver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52160" y="1664208"/>
            <a:ext cx="5760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 attrition among overtime workers vs. 10.4% for others — a 20-point gap.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777240" cy="713232"/>
          </a:xfrm>
          <a:prstGeom prst="rect">
            <a:avLst/>
          </a:prstGeom>
          <a:solidFill>
            <a:srgbClr val="D9C7A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32888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2505456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concentrates in specific roles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2505456"/>
            <a:ext cx="5760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Representatives (39.8%) and Laboratory Technicians (23.9%) turn over far faster than Managers or Research Directors.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777240" cy="713232"/>
          </a:xfrm>
          <a:prstGeom prst="rect">
            <a:avLst/>
          </a:prstGeom>
          <a:solidFill>
            <a:srgbClr val="D9C7A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74136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346704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HR run hottest at department level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52160" y="3346704"/>
            <a:ext cx="5760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sit above the 16.1% company-wide baseline; R&amp;D sits below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777240" cy="713232"/>
          </a:xfrm>
          <a:prstGeom prst="rect">
            <a:avLst/>
          </a:prstGeom>
          <a:solidFill>
            <a:srgbClr val="D9C7A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15384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187952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Leavers are younger, on average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52160" y="4187952"/>
            <a:ext cx="5760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 years vs. 37.6 years for employees who stay — a signal worth pairing with tenure.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777240" cy="713232"/>
          </a:xfrm>
          <a:prstGeom prst="rect">
            <a:avLst/>
          </a:prstGeom>
          <a:solidFill>
            <a:srgbClr val="D9C7A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056632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5029200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and experience move together with attrition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52160" y="5029200"/>
            <a:ext cx="5760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monthly income (4,787 vs. 6,833) and fewer working years (8.2 vs. 11.9) both associate with leaving.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Business Insights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0" y="6537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Manufacturing | Attrition Analysis</a:t>
            </a:r>
            <a:endParaRPr lang="en-US" sz="9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064" y="6672"/>
            <a:ext cx="1083936" cy="10839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C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Exploratory Analysis to a Predictive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51760" cy="393192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D9C7A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which observed differences (overtime, role, department, age, income) are statistically significant, not just descriptive.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920240"/>
            <a:ext cx="2651760" cy="393192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2194560"/>
            <a:ext cx="457200" cy="457200"/>
          </a:xfrm>
          <a:prstGeom prst="ellipse">
            <a:avLst/>
          </a:prstGeom>
          <a:solidFill>
            <a:srgbClr val="D9C7A3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788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shortlist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66160" y="352044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OverTime, JobRole, Department, Age, MonthlyIncome and TotalWorkingYears as leading candidates for a predictive model.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651760" cy="393192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5080" y="2194560"/>
            <a:ext cx="457200" cy="457200"/>
          </a:xfrm>
          <a:prstGeom prst="ellipse">
            <a:avLst/>
          </a:prstGeom>
          <a:solidFill>
            <a:srgbClr val="D9C7A3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2788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55080" y="352044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classification model (e.g. logistic regression or a tree-based model) to estimate individual attrition risk.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15400" y="1920240"/>
            <a:ext cx="2651760" cy="393192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0" y="2194560"/>
            <a:ext cx="457200" cy="457200"/>
          </a:xfrm>
          <a:prstGeom prst="ellipse">
            <a:avLst/>
          </a:prstGeom>
          <a:solidFill>
            <a:srgbClr val="D9C7A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0" y="2788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action plan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44000" y="352044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overtime policy and role-specific retention measures for Sales and Laboratory Technician staff first.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Next Steps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0" y="6537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Manufacturing | Attrition Analysis</a:t>
            </a:r>
            <a:endParaRPr lang="en-US" sz="9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677" y="5150"/>
            <a:ext cx="1122405" cy="11224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789</Words>
  <Application>Microsoft Office PowerPoint</Application>
  <PresentationFormat>Widescreen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Wilson Moses</dc:creator>
  <cp:keywords>W.Moses</cp:keywords>
  <cp:lastModifiedBy>mmothelesi@staff.bou.ac.bw</cp:lastModifiedBy>
  <cp:revision>3</cp:revision>
  <dcterms:created xsi:type="dcterms:W3CDTF">2026-08-09T15:27:44Z</dcterms:created>
  <dcterms:modified xsi:type="dcterms:W3CDTF">2026-08-09T16:23:31Z</dcterms:modified>
</cp:coreProperties>
</file>